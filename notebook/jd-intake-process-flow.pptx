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for Module 1 JD Intake &amp; Freezing process flow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schematic showing swimlane interaction between Manager, System NLP, and Database State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covers steps 1 to 4: intake, NLP extraction with confidence score evaluation, variant generation, and queueing.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covers dual review channels (email plain text diff parsing vs portal edits), configurable SLA escalation timers, and scoring matrix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 details atomic freezing and database immutability. Step 9 details the decoupled post-freeze revision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architectural principles grounding Module 1 process flow: zero silent resolution, immutability, isolation,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71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PHONEME HR SUITE — TECHNICAL DESIGN BLUEPRINT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Module 1: JD Intake &amp; Freezing</a:t>
            </a:r>
            <a:br/>
            <a:r>
              <a:t>Process Flow Visual Schematic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End-to-End Architectural Flow: Brief Ingestion → Structured NLP Extraction → Dual-Channel Review → Configurable SLA Oversight → Atomic Matrix Freezing &amp; Version Supersession</a:t>
            </a:r>
          </a:p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Release 1 Architecture • Core Design Theme: 'Nothing is silently auto-resolved' • B2B Multi-Tenant Isolation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END-TO-END ARCHITECTURAL OVERVIEW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Module 1 Process Flow Visual Schematic across System Swimlanes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03120" cy="1417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MANAGER / EMAIL &amp; PORTAL INTAKE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371600"/>
            <a:ext cx="8899855" cy="14173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103120" cy="1417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SYSTEM AUTOMATION &amp; NLP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017520"/>
            <a:ext cx="8899855" cy="14173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2103120" cy="14173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DATA MODEL, VERSIONING &amp;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663440"/>
            <a:ext cx="8899855" cy="14173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146304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4630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1. Brief Submission</a:t>
            </a:r>
            <a:br/>
            <a:r>
              <a:t>• Email to intake address</a:t>
            </a:r>
            <a:br/>
            <a:r>
              <a:t>• Direct portal entry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10896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10896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2. Structured Extraction</a:t>
            </a:r>
            <a:br/>
            <a:r>
              <a:t>• NLP parses raw brief</a:t>
            </a:r>
            <a:br/>
            <a:r>
              <a:t>• Low-confidence (&lt;0.75) flagged for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10896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10896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3. Auto-Generation</a:t>
            </a:r>
            <a:br/>
            <a:r>
              <a:t>• 2-3 JD Variants (Formal, Friendly, Condensed)</a:t>
            </a:r>
            <a:br/>
            <a:r>
              <a:t>• Draft Scoring Matrix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475488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475488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4. Approval Queue</a:t>
            </a:r>
            <a:br/>
            <a:r>
              <a:t>• Email sent w/ link</a:t>
            </a:r>
            <a:br/>
            <a:r>
              <a:t>• Placed in Pending Approval portal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46304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4630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5 &amp; 6. Review &amp; SLA</a:t>
            </a:r>
            <a:br/>
            <a:r>
              <a:t>• Email reply diffs OR portal rich-edit</a:t>
            </a:r>
            <a:br/>
            <a:r>
              <a:t>• 3-day SLA reminder &amp; HR escalation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146304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4630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7. Matrix Adjustment</a:t>
            </a:r>
            <a:br/>
            <a:r>
              <a:t>• Adjust weights per category (must sum to 100%)</a:t>
            </a:r>
            <a:br/>
            <a:r>
              <a:t>• Continuous edit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754880"/>
            <a:ext cx="201168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75488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8 &amp; 9. Freeze &amp; Supersede</a:t>
            </a:r>
            <a:br/>
            <a:r>
              <a:t>• Single atomic action (JD + Matrix Approved)</a:t>
            </a:r>
            <a:br/>
            <a:r>
              <a:t>• Prior Approved -&gt; Superseded</a:t>
            </a:r>
            <a:br/>
            <a:r>
              <a:t>• Re-revision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FLOW DIRECTION: Intake (Brief) → NLP Extraction → Variant Queue → Dual-Channel Review → SLA Monitor → Matrix Weighting → Atomic Freeze &amp; Version Supersession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PHASE 1: INGESTION &amp; GENERATION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Brief Submission, NLP Structured Extraction, and Multi-Variant Auto-Generation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28600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1: Brief Submission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293B"/>
                </a:solidFill>
              </a:defRPr>
            </a:pPr>
            <a:r>
              <a:t>• Dual Intake Options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Manager submits a rough brief via email to a dedicated intake address, or directly enters text in the web portal.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First-Class Channels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Both email and portal ingestion routes feed directly into the unified Module 1 Requisition Pipeline.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Unstructured Payload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Accepts raw text, bulleted notes, or informal descriptions without strict manual formatting.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8416" y="146304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65576" y="1600200"/>
            <a:ext cx="228600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2: NLP Extraction &amp; Schema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5576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293B"/>
                </a:solidFill>
              </a:defRPr>
            </a:pPr>
            <a:r>
              <a:t>• Structured Parsing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System runs NLP extraction on the rough brief to populate the structured JD Intake Schema.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Confidence Threshold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Fields extracted below tenant confidence score threshold (default 0.75) are flagged.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Zero Silent Guessing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Low-confidence fields block freezing until manager explicitly confirms or edits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46304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600200"/>
            <a:ext cx="2286000" cy="54864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3: Multi-Variant &amp; Matrix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293B"/>
                </a:solidFill>
              </a:defRPr>
            </a:pPr>
            <a:r>
              <a:t>• 3 JD Variants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Auto-generates 2-3 distinct JD variants: Formal/Corporate, Candidate-Friendly, and Condensed Job-Board.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Draft Scoring Matrix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Generates draft category weights: Core skills (35-55%), Experience (25-40%), Domain (15-30%), Education (0-10%).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Soft Skill Handling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No numeric behavioral proxy exists by design — soft skills are captured as free text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8" y="146304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25128" y="1600200"/>
            <a:ext cx="228600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4: Notification &amp; Queueing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2402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293B"/>
                </a:solidFill>
              </a:defRPr>
            </a:pPr>
            <a:r>
              <a:t>• Omnichannel Notification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All generated variants are emailed to the manager with direct portal deep-links.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Portal Queue Placement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Requisition automatically lands in the portal's 'Pending JD Approval' queue.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Ready for Review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Both the email payload and portal queue present all 3 variants and the draft scoring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PHASE 2: REVIEW, SLA &amp; SCORING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First-Class Dual Review Channels, Configurable SLA Escalation, and Matrix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5</a:t>
            </a:r>
            <a:br/>
            <a:r>
              <a:t>Dual First-Class Review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1E293B"/>
                </a:solidFill>
              </a:defRPr>
            </a:pPr>
            <a:r>
              <a:t>• Email-Based Reply Path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Manager reviews variants directly in their email client and replies in plain text with requested edits or feedback.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• NLP Email Diff Engine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System's email parser processes inbound text replies into structured diffs against the active draft JDVersion.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• Direct Portal Editing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Alternatively, manager logs into portal for rich WYSIWYG editing. Both paths are equal first-class review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2544" y="1463040"/>
            <a:ext cx="3474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6</a:t>
            </a:r>
            <a:br/>
            <a:r>
              <a:t>Configurable SLA Oversight &amp;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3317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1E293B"/>
                </a:solidFill>
              </a:defRPr>
            </a:pPr>
            <a:r>
              <a:t>• Configurable Window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Tenant configures an SLA window (e.g., 3 business days) for manager review response.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• Automated Reminders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System monitors pending time; sends automated reminder notifications as SLA boundary approaches.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• HR Escalation Trigger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If SLA expires without manager action, system triggers an HR/Recruiter escalation event to prevent hiring bottlenecks.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56448" y="146304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7</a:t>
            </a:r>
            <a:br/>
            <a:r>
              <a:t>Scoring Matrix Weight Adjustments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3317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1E293B"/>
                </a:solidFill>
              </a:defRPr>
            </a:pPr>
            <a:r>
              <a:t>• Continuous Adjustability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Draft matrix generated in Step 3 remains editable throughout every review round, not just at final freeze.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• Strict 100% Validation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Manager adjusts percentage weights per category (Core Skills, Experience, Domain, Education). Sum must equal 100%.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• No Behavioral Proxies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Soft skills are strictly excluded from numeric scoring weights to enforce objective evaluation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PHASE 3: FREEZING &amp; VERSION LIFECYCLE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Step 8 Atomic Freeze Action, Dual State Machine Transitions, and Step 9 Revision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8: ATOMIC FREEZE &amp; DUAL STATE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293B"/>
                </a:solidFill>
              </a:defRPr>
            </a:pPr>
            <a:r>
              <a:t>• Single Atomic Action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Manager triggers freeze; currently Pending-Approval JDVersion and bound draft ScoringMatrix are approved together in one transactional write.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Concurrency Validation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Requires expected_active_version_id; optimistic locking rejects stale concurrent freezes (409 Stale Version Conflict).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Strict Weight Check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Freeze blocks with a 409 error if matrix weights do not sum to exactly 100%, showing offending total.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Dual State Machine Sync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JobRequisition status transitions to Frozen_Open; active JDVersion transitions from PendingApproval to Approved.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DB Trigger Immutability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Once Approved, JDVersion content becomes DB-trigger-immutable. Prior Approved version becomes Superseded (retained, never overwritten).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095" y="1463040"/>
            <a:ext cx="5394960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9: POST-FREEZE REVISION &amp; SUPERSESSION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945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293B"/>
                </a:solidFill>
              </a:defRPr>
            </a:pPr>
            <a:r>
              <a:t>• Supported Normal Path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Post-freeze revision (e.g., changing role requirements) is a standard, supported lifecycle path — not an error exception.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Decoupled State Machines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JobRequisition remains Frozen_Open (and active for candidate sourcing) while new JDVersion revision is independently drafted and reviewed.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Identical Review Loop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The revision undergoes the exact same Steps 5–8 loop (email/portal editing, SLA monitoring, matrix adjustment, and atomic freeze).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Controlled Supersession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Freezing the new version sets active_version_id to the new Approved version and marks the previous version as Superseded.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Full Audit History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Self-referencing superseded_by column maintains an immutable audit chain across all historical versions.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ARCHITECTURAL GOVERNANCE &amp; QUALITY GATES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Design Theme: 'Nothing is silently auto-resolved' &amp; 5-Layer Isolation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9441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1. ZERO SILENT AUTO-RESOLUTION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Low-confidence NLP fields (&lt;0.75) flagged for human confirmation.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Matrix weights not summing to 100% explicitly block freeze action.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Conflicting duplicate candidate evidence routed to manual review.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Unsupported resume formats rejected explicitly with error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39535" y="1463040"/>
            <a:ext cx="53035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2. DATABASE IMMUTABILITY &amp; CONCURRENCY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6695" y="19659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Approved JDVersion records enforced immutable by native DB triggers.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Optimistic locking requires expected_active_version_id on freeze.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Controlled supersession preserves full audit history without deletes.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Append-only decision logs for candidate deduplication and resolution.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77639"/>
            <a:ext cx="5303520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3. FIVE-LAYER MULTI-TENANT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59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Database: Row-Level Security (RLS) + middleware tenant scoping.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Event Queue: Dead-lettering for missing tenant_id or client_id.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Search Index: Mandatory server-side tenant/client partition keys.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Object Storage &amp; Webhooks: Scoped IAM prefixes &amp; vendor ID scoping.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39776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535" y="3977639"/>
            <a:ext cx="53035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4. SECURITY &amp; ENVELOPE ENCRYPTION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4480559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Cloud KMS Master Key + Vault per-tenant Data Encryption Keys (DEKs).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DEK rotation every 90 days; re-encryption via scheduled background jobs.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OIDC/JWT short-lived access tokens (15m) + rotating refresh tokens.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Server-side Redis session storage enabling instant token revocation.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